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04-06-26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5585-3A69-A6C2-6BC7-F74D93D7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99089"/>
            <a:ext cx="8761413" cy="1229711"/>
          </a:xfrm>
        </p:spPr>
        <p:txBody>
          <a:bodyPr/>
          <a:lstStyle/>
          <a:p>
            <a:pPr algn="ctr"/>
            <a:r>
              <a:rPr lang="en-US" sz="3200" dirty="0">
                <a:highlight>
                  <a:srgbClr val="FF0000"/>
                </a:highlight>
              </a:rPr>
              <a:t>INDUSTRY PERFORMANCE ANALYSIS USING EXPLORATORY DATA ANALYSIS (EDA)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highlight>
                  <a:srgbClr val="FF0000"/>
                </a:highlight>
              </a:rPr>
              <a:t> </a:t>
            </a:r>
            <a:endParaRPr lang="en-US" sz="3200" dirty="0">
              <a:highlight>
                <a:srgbClr val="FF00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E6BDC3-D140-7890-52B7-9F8BAF34E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434" y="2603499"/>
            <a:ext cx="11288112" cy="3942537"/>
          </a:xfrm>
        </p:spPr>
      </p:pic>
    </p:spTree>
    <p:extLst>
      <p:ext uri="{BB962C8B-B14F-4D97-AF65-F5344CB8AC3E}">
        <p14:creationId xmlns:p14="http://schemas.microsoft.com/office/powerpoint/2010/main" val="4058653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6E7A-E0C6-5A92-01B3-A4216E4D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37BA-A575-DA99-174E-CC5EBC37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80" y="2301766"/>
            <a:ext cx="11571890" cy="4556234"/>
          </a:xfrm>
        </p:spPr>
        <p:txBody>
          <a:bodyPr>
            <a:normAutofit fontScale="25000" lnSpcReduction="20000"/>
          </a:bodyPr>
          <a:lstStyle/>
          <a:p>
            <a:r>
              <a:rPr lang="en-US" sz="5600" b="1" dirty="0"/>
              <a:t>The objective of this project is to analyze industry-level business performance </a:t>
            </a:r>
          </a:p>
          <a:p>
            <a:r>
              <a:rPr lang="en-US" sz="5600" b="1" dirty="0"/>
              <a:t>This analysis focuses on:</a:t>
            </a:r>
          </a:p>
          <a:p>
            <a:r>
              <a:rPr lang="en-US" sz="5600" b="1" dirty="0"/>
              <a:t>Understanding revenue patterns</a:t>
            </a:r>
          </a:p>
          <a:p>
            <a:r>
              <a:rPr lang="en-US" sz="5600" b="1" dirty="0"/>
              <a:t>Identifying employee distribution</a:t>
            </a:r>
          </a:p>
          <a:p>
            <a:r>
              <a:rPr lang="en-US" sz="5600" b="1" dirty="0"/>
              <a:t>Detecting outliers</a:t>
            </a:r>
          </a:p>
          <a:p>
            <a:r>
              <a:rPr lang="en-US" sz="5600" b="1" dirty="0"/>
              <a:t>Measuring relationships between variables</a:t>
            </a:r>
          </a:p>
          <a:p>
            <a:r>
              <a:rPr lang="en-US" sz="5600" b="1" dirty="0"/>
              <a:t>Finding business trends across industries </a:t>
            </a:r>
          </a:p>
          <a:p>
            <a:r>
              <a:rPr lang="en-US" sz="5600" b="1" dirty="0"/>
              <a:t>Tools Used:</a:t>
            </a:r>
          </a:p>
          <a:p>
            <a:r>
              <a:rPr lang="en-US" sz="5600" b="1" dirty="0"/>
              <a:t>- Python</a:t>
            </a:r>
          </a:p>
          <a:p>
            <a:r>
              <a:rPr lang="en-US" sz="5600" b="1" dirty="0"/>
              <a:t>- Pandas</a:t>
            </a:r>
          </a:p>
          <a:p>
            <a:r>
              <a:rPr lang="en-US" sz="5600" b="1" dirty="0"/>
              <a:t>- NumPy</a:t>
            </a:r>
          </a:p>
          <a:p>
            <a:r>
              <a:rPr lang="en-US" sz="5600" b="1" dirty="0"/>
              <a:t>- Matplotlib</a:t>
            </a:r>
          </a:p>
          <a:p>
            <a:r>
              <a:rPr lang="en-US" sz="5600" b="1" dirty="0"/>
              <a:t>- Seaborn</a:t>
            </a:r>
          </a:p>
          <a:p>
            <a:r>
              <a:rPr lang="en-US" sz="5600" b="1" dirty="0"/>
              <a:t>Business Goal:</a:t>
            </a:r>
          </a:p>
          <a:p>
            <a:r>
              <a:rPr lang="en-US" sz="5600" b="1" dirty="0"/>
              <a:t>The goal is to help organizations understand company performance trends and market behavior for better business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5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98F6-EC59-9715-F394-3F8BE6E8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C1C0-1658-D78F-759C-0B7200DE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14" y="2380593"/>
            <a:ext cx="11556124" cy="447740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Dataset Information:</a:t>
            </a:r>
          </a:p>
          <a:p>
            <a:r>
              <a:rPr lang="en-US" b="1" dirty="0"/>
              <a:t>• Total Records: 15,000</a:t>
            </a:r>
            <a:br>
              <a:rPr lang="en-US" b="1" dirty="0"/>
            </a:br>
            <a:r>
              <a:rPr lang="en-US" b="1" dirty="0"/>
              <a:t>• Total Columns: 12</a:t>
            </a:r>
          </a:p>
          <a:p>
            <a:r>
              <a:rPr lang="en-US" b="1" dirty="0"/>
              <a:t>Key Features:</a:t>
            </a:r>
            <a:br>
              <a:rPr lang="en-US" b="1" dirty="0"/>
            </a:br>
            <a:r>
              <a:rPr lang="en-US" b="1" dirty="0"/>
              <a:t>• Industry</a:t>
            </a:r>
            <a:br>
              <a:rPr lang="en-US" b="1" dirty="0"/>
            </a:br>
            <a:r>
              <a:rPr lang="en-US" b="1" dirty="0"/>
              <a:t>• Country</a:t>
            </a:r>
            <a:br>
              <a:rPr lang="en-US" b="1" dirty="0"/>
            </a:br>
            <a:r>
              <a:rPr lang="en-US" b="1" dirty="0"/>
              <a:t>• Region</a:t>
            </a:r>
            <a:br>
              <a:rPr lang="en-US" b="1" dirty="0"/>
            </a:br>
            <a:r>
              <a:rPr lang="en-US" b="1" dirty="0"/>
              <a:t>• Revenue</a:t>
            </a:r>
            <a:br>
              <a:rPr lang="en-US" b="1" dirty="0"/>
            </a:br>
            <a:r>
              <a:rPr lang="en-US" b="1" dirty="0"/>
              <a:t>• Employees</a:t>
            </a:r>
            <a:br>
              <a:rPr lang="en-US" b="1" dirty="0"/>
            </a:br>
            <a:r>
              <a:rPr lang="en-US" b="1" dirty="0"/>
              <a:t>• Customers</a:t>
            </a:r>
            <a:br>
              <a:rPr lang="en-US" b="1" dirty="0"/>
            </a:br>
            <a:r>
              <a:rPr lang="en-US" b="1" dirty="0"/>
              <a:t>• Profit Margin</a:t>
            </a:r>
            <a:br>
              <a:rPr lang="en-US" b="1" dirty="0"/>
            </a:br>
            <a:r>
              <a:rPr lang="en-US" b="1" dirty="0"/>
              <a:t>• Market Rating</a:t>
            </a:r>
            <a:br>
              <a:rPr lang="en-US" b="1" dirty="0"/>
            </a:br>
            <a:r>
              <a:rPr lang="en-US" b="1" dirty="0"/>
              <a:t>• Founded Year</a:t>
            </a:r>
            <a:br>
              <a:rPr lang="en-US" b="1" dirty="0"/>
            </a:br>
            <a:r>
              <a:rPr lang="en-US" b="1" dirty="0"/>
              <a:t>• Created Date</a:t>
            </a:r>
          </a:p>
          <a:p>
            <a:r>
              <a:rPr lang="en-US" b="1" dirty="0"/>
              <a:t>The dataset contains information about companies operating across different industries and regions.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2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B581-E308-8E8D-3455-D02C22DD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B6C3-2613-6C29-056C-6EBCBF9E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03" y="2603500"/>
            <a:ext cx="11272345" cy="4254500"/>
          </a:xfrm>
        </p:spPr>
        <p:txBody>
          <a:bodyPr/>
          <a:lstStyle/>
          <a:p>
            <a:r>
              <a:rPr lang="en-US" b="1" dirty="0"/>
              <a:t>Before analysis, the dataset was explored to understand:</a:t>
            </a:r>
          </a:p>
          <a:p>
            <a:r>
              <a:rPr lang="en-US" b="1" dirty="0"/>
              <a:t>• Data types</a:t>
            </a:r>
            <a:br>
              <a:rPr lang="en-US" b="1" dirty="0"/>
            </a:br>
            <a:r>
              <a:rPr lang="en-US" b="1" dirty="0"/>
              <a:t>• Unique values</a:t>
            </a:r>
            <a:br>
              <a:rPr lang="en-US" b="1" dirty="0"/>
            </a:br>
            <a:r>
              <a:rPr lang="en-US" b="1" dirty="0"/>
              <a:t>• Statistical summary</a:t>
            </a:r>
            <a:br>
              <a:rPr lang="en-US" b="1" dirty="0"/>
            </a:br>
            <a:r>
              <a:rPr lang="en-US" b="1" dirty="0"/>
              <a:t>• Data distribution</a:t>
            </a:r>
            <a:br>
              <a:rPr lang="en-US" b="1" dirty="0"/>
            </a:br>
            <a:r>
              <a:rPr lang="en-US" b="1" dirty="0"/>
              <a:t>• Feature relationships</a:t>
            </a:r>
          </a:p>
          <a:p>
            <a:r>
              <a:rPr lang="en-US" b="1" dirty="0"/>
              <a:t>This step helped identify important variables and prepare the data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68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5860-ACC8-A07E-5076-3F6FC5A8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B00B-6E62-416D-40DF-3826A1BA6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8" y="2603500"/>
            <a:ext cx="11146219" cy="4254500"/>
          </a:xfrm>
        </p:spPr>
        <p:txBody>
          <a:bodyPr/>
          <a:lstStyle/>
          <a:p>
            <a:r>
              <a:rPr lang="en-US" b="1" dirty="0"/>
              <a:t>Data quality checks were performed to ensure reliable analysis.</a:t>
            </a:r>
          </a:p>
          <a:p>
            <a:r>
              <a:rPr lang="en-US" b="1" dirty="0"/>
              <a:t>Activities Performed:</a:t>
            </a:r>
          </a:p>
          <a:p>
            <a:r>
              <a:rPr lang="en-US" b="1" dirty="0"/>
              <a:t>• Checked missing values</a:t>
            </a:r>
            <a:br>
              <a:rPr lang="en-US" b="1" dirty="0"/>
            </a:br>
            <a:r>
              <a:rPr lang="en-US" b="1" dirty="0"/>
              <a:t>• Checked duplicate records</a:t>
            </a:r>
            <a:br>
              <a:rPr lang="en-US" b="1" dirty="0"/>
            </a:br>
            <a:r>
              <a:rPr lang="en-US" b="1" dirty="0"/>
              <a:t>• Validated data consistency</a:t>
            </a:r>
            <a:br>
              <a:rPr lang="en-US" b="1" dirty="0"/>
            </a:br>
            <a:r>
              <a:rPr lang="en-US" b="1" dirty="0"/>
              <a:t>• Converted Created Date into datetime format</a:t>
            </a:r>
            <a:br>
              <a:rPr lang="en-US" b="1" dirty="0"/>
            </a:br>
            <a:r>
              <a:rPr lang="en-US" b="1" dirty="0"/>
              <a:t>• Verified column data types</a:t>
            </a:r>
          </a:p>
          <a:p>
            <a:r>
              <a:rPr lang="en-US" b="1" dirty="0"/>
              <a:t>Result:</a:t>
            </a:r>
            <a:br>
              <a:rPr lang="en-US" b="1" dirty="0"/>
            </a:br>
            <a:r>
              <a:rPr lang="en-US" b="1" dirty="0"/>
              <a:t>The dataset was clean and ready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B397-5291-79FE-51F7-11B9D883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Univariate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C20851-1984-83CE-2292-B53039A02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33" y="4838699"/>
            <a:ext cx="5885791" cy="170004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AEB97E-BA46-0D1E-C2C2-5EFE10675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354583"/>
            <a:ext cx="6211613" cy="2148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DF73BE-2BAD-6C61-5C52-E8F765029B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2354583"/>
            <a:ext cx="5885791" cy="2148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DDCB8F-0BE0-DB2F-FD67-8EFE18A7C3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63863" y="4838699"/>
            <a:ext cx="5549804" cy="1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0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EB2B-1C66-58B3-F69D-ECEDE0EA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 of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2107B-565D-0E3C-FB02-BAE879F54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2603499"/>
            <a:ext cx="11256580" cy="425450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Analyze individual variables independently. </a:t>
            </a:r>
          </a:p>
          <a:p>
            <a:r>
              <a:rPr lang="en-US" b="1" dirty="0"/>
              <a:t>Understand distribution, spread, and outliers. </a:t>
            </a:r>
          </a:p>
          <a:p>
            <a:r>
              <a:rPr lang="en-US" b="1" dirty="0"/>
              <a:t>Visualizations Used:</a:t>
            </a:r>
          </a:p>
          <a:p>
            <a:r>
              <a:rPr lang="en-US" b="1" dirty="0"/>
              <a:t>Revenue Distribution Histogram </a:t>
            </a:r>
          </a:p>
          <a:p>
            <a:r>
              <a:rPr lang="en-US" b="1" dirty="0"/>
              <a:t>Employee Count Histogram </a:t>
            </a:r>
          </a:p>
          <a:p>
            <a:r>
              <a:rPr lang="en-US" b="1" dirty="0"/>
              <a:t>Market Rating Histogram </a:t>
            </a:r>
          </a:p>
          <a:p>
            <a:r>
              <a:rPr lang="en-US" b="1" dirty="0"/>
              <a:t>Revenue Boxplot </a:t>
            </a:r>
          </a:p>
          <a:p>
            <a:r>
              <a:rPr lang="en-US" b="1" dirty="0"/>
              <a:t>Key Findings:</a:t>
            </a:r>
          </a:p>
          <a:p>
            <a:r>
              <a:rPr lang="en-US" b="1" dirty="0"/>
              <a:t>Revenue shows a wide distribution across industries. </a:t>
            </a:r>
          </a:p>
          <a:p>
            <a:r>
              <a:rPr lang="en-US" b="1" dirty="0"/>
              <a:t>Employee count varies significantly among companies. </a:t>
            </a:r>
          </a:p>
          <a:p>
            <a:r>
              <a:rPr lang="en-US" b="1" dirty="0"/>
              <a:t>Market ratings are concentrated within a limited range. </a:t>
            </a:r>
          </a:p>
          <a:p>
            <a:r>
              <a:rPr lang="en-US" b="1" dirty="0"/>
              <a:t>Revenue contains several extreme observations (outliers).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37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25755-AB31-4FDE-DFE6-C9818450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highlight>
                  <a:srgbClr val="FF0000"/>
                </a:highlight>
              </a:rPr>
              <a:t>CATEGORICAL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00D48-E099-C7D7-5BE6-F83B4DB81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3500"/>
            <a:ext cx="11177752" cy="4254500"/>
          </a:xfrm>
        </p:spPr>
        <p:txBody>
          <a:bodyPr/>
          <a:lstStyle/>
          <a:p>
            <a:r>
              <a:rPr lang="en-US" b="1" dirty="0"/>
              <a:t>Categorical variables were analyzed using count plots.</a:t>
            </a:r>
          </a:p>
          <a:p>
            <a:r>
              <a:rPr lang="en-US" b="1" dirty="0"/>
              <a:t>Features:</a:t>
            </a:r>
          </a:p>
          <a:p>
            <a:r>
              <a:rPr lang="en-US" b="1" dirty="0"/>
              <a:t>• Industry</a:t>
            </a:r>
            <a:br>
              <a:rPr lang="en-US" b="1" dirty="0"/>
            </a:br>
            <a:r>
              <a:rPr lang="en-US" b="1" dirty="0"/>
              <a:t>• Country</a:t>
            </a:r>
            <a:br>
              <a:rPr lang="en-US" b="1" dirty="0"/>
            </a:br>
            <a:r>
              <a:rPr lang="en-US" b="1" dirty="0"/>
              <a:t>• Region</a:t>
            </a:r>
          </a:p>
          <a:p>
            <a:r>
              <a:rPr lang="en-US" b="1" dirty="0"/>
              <a:t>Insights:</a:t>
            </a:r>
          </a:p>
          <a:p>
            <a:r>
              <a:rPr lang="en-US" b="1" dirty="0"/>
              <a:t>• Some industries have significantly more companies.</a:t>
            </a:r>
            <a:br>
              <a:rPr lang="en-US" b="1" dirty="0"/>
            </a:br>
            <a:r>
              <a:rPr lang="en-US" b="1" dirty="0"/>
              <a:t>• Country distribution varies considerably.</a:t>
            </a:r>
            <a:br>
              <a:rPr lang="en-US" b="1" dirty="0"/>
            </a:br>
            <a:r>
              <a:rPr lang="en-US" b="1" dirty="0"/>
              <a:t>• Regional representation differs across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1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7402-F9E8-A522-8228-BE78E719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OUTLIER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8D647-DA09-06C9-522E-0FF596DFA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2603500"/>
            <a:ext cx="11209282" cy="4254500"/>
          </a:xfrm>
        </p:spPr>
        <p:txBody>
          <a:bodyPr/>
          <a:lstStyle/>
          <a:p>
            <a:r>
              <a:rPr lang="en-US" b="1" dirty="0"/>
              <a:t>Outlier detection was performed using:</a:t>
            </a:r>
          </a:p>
          <a:p>
            <a:r>
              <a:rPr lang="en-US" b="1" dirty="0"/>
              <a:t>• Boxplots</a:t>
            </a:r>
            <a:br>
              <a:rPr lang="en-US" b="1" dirty="0"/>
            </a:br>
            <a:r>
              <a:rPr lang="en-US" b="1" dirty="0"/>
              <a:t>• IQR Method</a:t>
            </a:r>
            <a:br>
              <a:rPr lang="en-US" b="1" dirty="0"/>
            </a:br>
            <a:r>
              <a:rPr lang="en-US" b="1" dirty="0"/>
              <a:t>• Z-Score Method</a:t>
            </a:r>
          </a:p>
          <a:p>
            <a:r>
              <a:rPr lang="en-US" b="1" dirty="0"/>
              <a:t>Observations:</a:t>
            </a:r>
          </a:p>
          <a:p>
            <a:r>
              <a:rPr lang="en-US" b="1" dirty="0"/>
              <a:t>• Revenue contains extreme values.</a:t>
            </a:r>
            <a:br>
              <a:rPr lang="en-US" b="1" dirty="0"/>
            </a:br>
            <a:r>
              <a:rPr lang="en-US" b="1" dirty="0"/>
              <a:t>• Employee count shows large variations.</a:t>
            </a:r>
            <a:br>
              <a:rPr lang="en-US" b="1" dirty="0"/>
            </a:br>
            <a:r>
              <a:rPr lang="en-US" b="1" dirty="0"/>
              <a:t>• Customer count contains several outliers.</a:t>
            </a:r>
          </a:p>
          <a:p>
            <a:r>
              <a:rPr lang="en-US" b="1" dirty="0"/>
              <a:t>Outlier analysis helps improve business understanding and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02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4D93-A0BD-5E3C-6186-A01DD7BE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BIVARIATE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EAB8D5-8EBF-5475-407B-361340612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9187" y="2460515"/>
            <a:ext cx="6117022" cy="19369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E2262-27AA-4420-4092-1500E6E9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6208" y="2460515"/>
            <a:ext cx="5885792" cy="2110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138C5-354D-1226-8717-E883D48428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9187" y="4570597"/>
            <a:ext cx="6117022" cy="2110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558094-3E2E-0688-1BDE-0352DBC49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6208" y="4570597"/>
            <a:ext cx="5878771" cy="21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32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C014-2724-2716-BD17-C23A37CA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 of 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E20B-047E-A8D9-D917-54FBD5A9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2603500"/>
            <a:ext cx="11240813" cy="4112610"/>
          </a:xfrm>
        </p:spPr>
        <p:txBody>
          <a:bodyPr>
            <a:normAutofit/>
          </a:bodyPr>
          <a:lstStyle/>
          <a:p>
            <a:r>
              <a:rPr lang="en-US" b="1" dirty="0"/>
              <a:t>Analyze relationships between two variables. </a:t>
            </a:r>
          </a:p>
          <a:p>
            <a:r>
              <a:rPr lang="en-US" b="1" dirty="0"/>
              <a:t>Identify trends and correlations affecting business performance. </a:t>
            </a:r>
          </a:p>
          <a:p>
            <a:r>
              <a:rPr lang="en-US" b="1" dirty="0"/>
              <a:t>Key Findings:</a:t>
            </a:r>
          </a:p>
          <a:p>
            <a:r>
              <a:rPr lang="en-US" b="1" dirty="0"/>
              <a:t>Revenue shows a weak relationship with employee count. </a:t>
            </a:r>
          </a:p>
          <a:p>
            <a:r>
              <a:rPr lang="en-US" b="1" dirty="0"/>
              <a:t>Customer count has limited influence on company revenue. </a:t>
            </a:r>
          </a:p>
          <a:p>
            <a:r>
              <a:rPr lang="en-US" b="1" dirty="0"/>
              <a:t>Certain industries generate higher average revenue than others. </a:t>
            </a:r>
          </a:p>
          <a:p>
            <a:r>
              <a:rPr lang="en-US" b="1" dirty="0"/>
              <a:t>Regional differences are observed in employee distribution and business scale. </a:t>
            </a:r>
          </a:p>
          <a:p>
            <a:r>
              <a:rPr lang="en-US" b="1" dirty="0"/>
              <a:t>Conclusion:</a:t>
            </a:r>
          </a:p>
          <a:p>
            <a:r>
              <a:rPr lang="en-US" b="1" dirty="0"/>
              <a:t>Most variables exhibit weak to moderate correlation. </a:t>
            </a:r>
          </a:p>
          <a:p>
            <a:r>
              <a:rPr lang="en-US" b="1" dirty="0"/>
              <a:t>Business performance appears to be influenced by multiple factors rather than a single variable.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559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AB89-6BCB-A74A-70B7-1FFF19C9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Correlation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1044D-7EB1-915C-EDF6-3FE3AAE59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08" y="2603500"/>
            <a:ext cx="11619186" cy="4254500"/>
          </a:xfrm>
        </p:spPr>
        <p:txBody>
          <a:bodyPr/>
          <a:lstStyle/>
          <a:p>
            <a:r>
              <a:rPr lang="en-US" b="1" dirty="0"/>
              <a:t>A correlation matrix was created to measure relationships among numerical features.</a:t>
            </a:r>
          </a:p>
          <a:p>
            <a:r>
              <a:rPr lang="en-US" b="1" dirty="0"/>
              <a:t>Benefits:</a:t>
            </a:r>
          </a:p>
          <a:p>
            <a:r>
              <a:rPr lang="en-US" b="1" dirty="0"/>
              <a:t>• Identify positive relationships.</a:t>
            </a:r>
            <a:br>
              <a:rPr lang="en-US" b="1" dirty="0"/>
            </a:br>
            <a:r>
              <a:rPr lang="en-US" b="1" dirty="0"/>
              <a:t>• Identify negative relationships.</a:t>
            </a:r>
            <a:br>
              <a:rPr lang="en-US" b="1" dirty="0"/>
            </a:br>
            <a:r>
              <a:rPr lang="en-US" b="1" dirty="0"/>
              <a:t>• Detect highly correlated variables.</a:t>
            </a:r>
          </a:p>
          <a:p>
            <a:r>
              <a:rPr lang="en-US" b="1" dirty="0"/>
              <a:t>Observation:</a:t>
            </a:r>
          </a:p>
          <a:p>
            <a:r>
              <a:rPr lang="en-US" b="1" dirty="0"/>
              <a:t>Most variables showed weak to moderate correlation, indicating independent business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61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BD05-FCF3-313D-37FD-23F03FD0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INDUSTRY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F276-2991-CB9D-D128-DA5F039BF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32" y="2603500"/>
            <a:ext cx="11303876" cy="4128376"/>
          </a:xfrm>
        </p:spPr>
        <p:txBody>
          <a:bodyPr/>
          <a:lstStyle/>
          <a:p>
            <a:r>
              <a:rPr lang="en-US" b="1" dirty="0"/>
              <a:t>Industry-wise analysis was performed using:</a:t>
            </a:r>
          </a:p>
          <a:p>
            <a:r>
              <a:rPr lang="en-US" b="1" dirty="0"/>
              <a:t>• Average Revenue</a:t>
            </a:r>
            <a:br>
              <a:rPr lang="en-US" b="1" dirty="0"/>
            </a:br>
            <a:r>
              <a:rPr lang="en-US" b="1" dirty="0"/>
              <a:t>• Employee Count</a:t>
            </a:r>
            <a:br>
              <a:rPr lang="en-US" b="1" dirty="0"/>
            </a:br>
            <a:r>
              <a:rPr lang="en-US" b="1" dirty="0"/>
              <a:t>• Market Rating</a:t>
            </a:r>
          </a:p>
          <a:p>
            <a:r>
              <a:rPr lang="en-US" b="1" dirty="0"/>
              <a:t>Insights:</a:t>
            </a:r>
          </a:p>
          <a:p>
            <a:r>
              <a:rPr lang="en-US" b="1" dirty="0"/>
              <a:t>• Certain industries consistently generate higher revenue.</a:t>
            </a:r>
            <a:br>
              <a:rPr lang="en-US" b="1" dirty="0"/>
            </a:br>
            <a:r>
              <a:rPr lang="en-US" b="1" dirty="0"/>
              <a:t>• Industry size varies significantly.</a:t>
            </a:r>
            <a:br>
              <a:rPr lang="en-US" b="1" dirty="0"/>
            </a:br>
            <a:r>
              <a:rPr lang="en-US" b="1" dirty="0"/>
              <a:t>• Market ratings differ across sectors.</a:t>
            </a:r>
          </a:p>
          <a:p>
            <a:r>
              <a:rPr lang="en-US" b="1" dirty="0"/>
              <a:t>This helps identify high-performing industries.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981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168E-E20E-D06E-64F8-373B5B01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Multivariate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130CB-BEAF-C3E5-5985-33BB78680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412125"/>
            <a:ext cx="12191999" cy="4556234"/>
          </a:xfrm>
        </p:spPr>
      </p:pic>
    </p:spTree>
    <p:extLst>
      <p:ext uri="{BB962C8B-B14F-4D97-AF65-F5344CB8AC3E}">
        <p14:creationId xmlns:p14="http://schemas.microsoft.com/office/powerpoint/2010/main" val="2836161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E24F-9E9F-ACE0-3ED3-2DA63F38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 of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104F-1779-B8AD-3568-31E3F11F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76" y="2364828"/>
            <a:ext cx="11430000" cy="449317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Analyze the interaction among multiple variables simultaneously. </a:t>
            </a:r>
          </a:p>
          <a:p>
            <a:r>
              <a:rPr lang="en-US" b="1" dirty="0"/>
              <a:t>Identify patterns that cannot be observed through univariate or bivariate analysis. </a:t>
            </a:r>
          </a:p>
          <a:p>
            <a:r>
              <a:rPr lang="en-US" b="1" dirty="0"/>
              <a:t>Variables Analyzed:</a:t>
            </a:r>
          </a:p>
          <a:p>
            <a:r>
              <a:rPr lang="en-US" b="1" dirty="0"/>
              <a:t>Employees </a:t>
            </a:r>
          </a:p>
          <a:p>
            <a:r>
              <a:rPr lang="en-US" b="1" dirty="0"/>
              <a:t>Revenue </a:t>
            </a:r>
          </a:p>
          <a:p>
            <a:r>
              <a:rPr lang="en-US" b="1" dirty="0"/>
              <a:t>Industry </a:t>
            </a:r>
          </a:p>
          <a:p>
            <a:r>
              <a:rPr lang="en-US" b="1" dirty="0"/>
              <a:t>Key Findings:</a:t>
            </a:r>
          </a:p>
          <a:p>
            <a:r>
              <a:rPr lang="en-US" b="1" dirty="0"/>
              <a:t>Revenue varies significantly across industries. </a:t>
            </a:r>
          </a:p>
          <a:p>
            <a:r>
              <a:rPr lang="en-US" b="1" dirty="0"/>
              <a:t>Companies with similar employee counts can generate different revenue levels. </a:t>
            </a:r>
          </a:p>
          <a:p>
            <a:r>
              <a:rPr lang="en-US" b="1" dirty="0"/>
              <a:t>Industry type plays an important role in business performance. </a:t>
            </a:r>
          </a:p>
          <a:p>
            <a:r>
              <a:rPr lang="en-US" b="1" dirty="0"/>
              <a:t>No strong linear relationship is observed across all variables. </a:t>
            </a:r>
          </a:p>
          <a:p>
            <a:r>
              <a:rPr lang="en-US" b="1" dirty="0"/>
              <a:t>Business Insight</a:t>
            </a:r>
          </a:p>
          <a:p>
            <a:r>
              <a:rPr lang="en-US" b="1" dirty="0"/>
              <a:t>Business success depends on multiple factors rather than a single variable. </a:t>
            </a:r>
          </a:p>
          <a:p>
            <a:r>
              <a:rPr lang="en-US" b="1" dirty="0"/>
              <a:t>Industry characteristics influence revenue generation and workforce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379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276</TotalTime>
  <Words>692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INDUSTRY PERFORMANCE ANALYSIS USING EXPLORATORY DATA ANALYSIS (EDA) </vt:lpstr>
      <vt:lpstr>Objective</vt:lpstr>
      <vt:lpstr>DATASET OVERVIEW</vt:lpstr>
      <vt:lpstr>DATA UNDERSTANDING</vt:lpstr>
      <vt:lpstr>DATA CLEANING &amp; PREPROCESSING</vt:lpstr>
      <vt:lpstr>Univariate Analysis</vt:lpstr>
      <vt:lpstr>Objective of Univariate Analysis</vt:lpstr>
      <vt:lpstr>CATEGORICAL ANALYSIS</vt:lpstr>
      <vt:lpstr>OUTLIER ANALYSIS</vt:lpstr>
      <vt:lpstr>BIVARIATE ANALYSIS</vt:lpstr>
      <vt:lpstr>Objective of Bivariate Analysis</vt:lpstr>
      <vt:lpstr>Correlation Heatmap</vt:lpstr>
      <vt:lpstr>INDUSTRY PERFORMANCE ANALYSIS</vt:lpstr>
      <vt:lpstr>Multivariate Analysis</vt:lpstr>
      <vt:lpstr>Objective of Multivariate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srivastava</dc:creator>
  <cp:lastModifiedBy>akash srivastava</cp:lastModifiedBy>
  <cp:revision>1</cp:revision>
  <dcterms:created xsi:type="dcterms:W3CDTF">2026-06-04T08:48:00Z</dcterms:created>
  <dcterms:modified xsi:type="dcterms:W3CDTF">2026-06-04T13:24:43Z</dcterms:modified>
</cp:coreProperties>
</file>